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85DE0-C2ED-411F-8D5E-81E7A9D3F0EC}" v="8" dt="2025-12-08T04:37:36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03B0-EA3E-AF96-7994-A3ECA9007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274E3-6885-F9DF-5A17-FE4CB05B1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DD41-1BED-6892-D970-A64F0C96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767AC-EBDB-E9AD-56D5-AE9E7010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FC8C-797B-FFBE-F09A-CDFF3805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91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138A-232E-2758-3741-C7A7F7AB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005F-C100-7FEF-817E-508D2CAA1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68B5F-DF7A-991E-9354-0F1B82A55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F4E8C-F008-F09C-638D-1965FDA8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0060-75C5-DA1C-A25C-A479D11F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71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22E2-B015-1CC0-6E1B-7C75C579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E1A6C-00BF-1AD6-5A76-6EA5051FB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66C8-E6DF-1B76-4F99-2B070314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68E5-E103-908E-E1C4-2071C59B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42BF4-1CD9-18C2-E78C-10D6C43E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4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E0FE-43D7-4DB8-AC21-41F6A2A5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D762-942B-3A64-4E3E-7B91DEB4A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31F81-239B-6ED3-F12C-F5EE855F0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11E24-B1FE-07BF-71D8-407C0413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E7365-1E6B-9E27-F7EA-9A2ED47A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80B1-DCBF-8C44-5CE3-CC796150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70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A0E0-2AB4-309E-A807-87046297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5E407-8255-B529-8886-970360FF4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29228-9171-04FE-394B-5E408D75F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B79B0E-E43D-4F0D-8380-94DE24F90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27D308-499B-2B66-C3E8-B387D0AF6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523EF-7C54-E65E-6015-B6E11366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A1B0D-C65E-7457-6897-AC6C2940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F927D-4B68-3377-8B0E-0C76D16F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F25D-6130-E315-6C25-E65921C3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3DFA1-43ED-9E0F-790D-ABF57BB5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DAD45-5279-5D8A-BAA2-EF9CE37D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8D853-3BAE-A566-2B43-BF240185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DD4CE-79C2-A8A5-BFAC-B84526EE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E3EF9-00C3-F1F6-74C3-C10BC974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4F1E9-F1E6-3CBF-D9EB-2074B044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06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6A53-4F62-A3C5-4583-94066EB1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2B7B3-9710-7E2B-9097-80D9AFD7C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8B2BB-3AEE-4E79-6C98-C3908625E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5D8E6-8274-B95F-50DF-307B386C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1DF00-00D0-CF9A-37BC-E76EB9BC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E2DBF-62F7-FD7F-D390-E57199ED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3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FDF2-62CE-3D0D-5B91-9ED15673C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13F6C-B801-D986-5D9D-620F97C2B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6F566-D221-8E33-DFF3-DBFEB814E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16977-FB02-8FC4-DD53-C9650EE8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2A56B-157B-D392-1245-AA010C97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2687-8A37-701D-1CAE-6E575038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9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8D09-EF73-36BB-7B65-1A85BA04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896AD-9212-F29C-3773-225F535CD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AC421-A07F-972A-DA0F-9849C3F1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1396-9A04-B372-3110-9122110D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A61B2-62AF-8F62-7393-3656313C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60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3A852-0E3A-FCFE-121A-6D1ED7119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0BA7A-7709-DB21-EEF9-50F5C6D3C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FE42D-2066-E48C-46D4-01E6275C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5B211-A367-2E65-5944-87A72319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2BDB3-D2F8-670D-FAAA-A51F2C2A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26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644A9-0A31-D090-C00A-182B8A54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79D0D-B6AA-5CF3-C36F-EC56E8DB6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C253E-6311-50CD-0CAC-0B2B5240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072AC-B0EA-48D3-9B0D-F7BFB6D2A7E5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E646F-B3EC-0999-A9B7-C0D05E385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4D2C-672F-8E33-CE08-BDF0BED79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5C1C5-B1FB-481D-83BD-59C9F61D9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8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C858-BA96-0B29-24CF-C050787D4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874"/>
            <a:ext cx="9144000" cy="2387600"/>
          </a:xfrm>
        </p:spPr>
        <p:txBody>
          <a:bodyPr>
            <a:normAutofit/>
          </a:bodyPr>
          <a:lstStyle/>
          <a:p>
            <a:r>
              <a:rPr lang="en-IN" sz="5400" b="1" dirty="0"/>
              <a:t>Fathom: Causal Tracing &amp; Visual Debugging Infrastructure for Multi-Step AI Agents 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9C92E-0EBD-F4C3-1455-C1ECBADD1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903561"/>
          </a:xfrm>
        </p:spPr>
        <p:txBody>
          <a:bodyPr>
            <a:normAutofit fontScale="700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Swastika Chakraborty (24WU0103023)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Prashlesh Pratap Singh (24WU0101118)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Rushikesh Amol(24WU0103023)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Kumar Tiwari (24WU0102719)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Mahesh()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mentorship of: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 ()</a:t>
            </a:r>
          </a:p>
          <a:p>
            <a:endParaRPr lang="en-IN" dirty="0"/>
          </a:p>
        </p:txBody>
      </p:sp>
      <p:pic>
        <p:nvPicPr>
          <p:cNvPr id="6146" name="Picture 2" descr="Woxsen University - Wikipedia">
            <a:extLst>
              <a:ext uri="{FF2B5EF4-FFF2-40B4-BE49-F238E27FC236}">
                <a16:creationId xmlns:a16="http://schemas.microsoft.com/office/drawing/2014/main" id="{2D98B5AA-5E15-9ACA-4BD0-8B344619F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0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94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3D03-6C98-8E16-A8D8-1A8144A80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2800A-8740-0877-F68C-F494A98DB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24289"/>
            <a:ext cx="723097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Review/Competitive Analysis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5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4489-9254-DFFD-2926-74CAB7B1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283"/>
            <a:ext cx="10515600" cy="12343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8C586E4-63FE-04EF-752F-C21C9BA5272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1123358"/>
                <a:ext cx="10515599" cy="5447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I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dirty="0"/>
                  <a:t> The Black Box Execution Gap:</a:t>
                </a:r>
                <a:r>
                  <a:rPr lang="en-IN" sz="1800" dirty="0"/>
                  <a:t> </a:t>
                </a:r>
                <a:r>
                  <a:rPr lang="en-IN" sz="2000" dirty="0"/>
                  <a:t>Modern AI agents chain multiple steps together Search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Summarize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Reason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Act.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 Opaque Failure Modes</a:t>
                </a:r>
                <a:r>
                  <a:rPr lang="en-IN" sz="2000" b="1" dirty="0"/>
                  <a:t>:</a:t>
                </a:r>
                <a:r>
                  <a:rPr lang="en-IN" sz="2000" dirty="0"/>
                  <a:t> When an agent fails, developers only see the final incorrect output with zero visibility into which intermediate step caused the collapse.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 Flat Logging Limitations</a:t>
                </a:r>
                <a:r>
                  <a:rPr lang="en-IN" sz="2000" b="1" dirty="0"/>
                  <a:t>:</a:t>
                </a:r>
                <a:r>
                  <a:rPr lang="en-IN" sz="2000" dirty="0"/>
                  <a:t> Standard logging treats actions as isolated events rather than   interconnected dependency trees.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kumimoji="0" lang="en-US" altLang="en-US" sz="2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Issues With Current Solutions :</a:t>
                </a:r>
              </a:p>
              <a:p>
                <a:r>
                  <a:rPr lang="en-IN" sz="1800" b="1" dirty="0"/>
                  <a:t>Developer-Only Complexity:</a:t>
                </a:r>
                <a:r>
                  <a:rPr lang="en-IN" sz="1800" dirty="0"/>
                  <a:t> </a:t>
                </a:r>
                <a:r>
                  <a:rPr lang="en-IN" sz="2000" dirty="0"/>
                  <a:t>Platforms like </a:t>
                </a:r>
                <a:r>
                  <a:rPr lang="en-IN" sz="2000" dirty="0" err="1"/>
                  <a:t>LangSmith</a:t>
                </a:r>
                <a:r>
                  <a:rPr lang="en-IN" sz="2000" dirty="0"/>
                  <a:t>/</a:t>
                </a:r>
                <a:r>
                  <a:rPr lang="en-IN" sz="2000" dirty="0" err="1"/>
                  <a:t>Langfuse</a:t>
                </a:r>
                <a:r>
                  <a:rPr lang="en-IN" sz="2000" dirty="0"/>
                  <a:t> show raw JSON payloads that non-developers (product managers, domain experts) cannot interpret.</a:t>
                </a:r>
              </a:p>
              <a:p>
                <a:r>
                  <a:rPr lang="en-IN" sz="1800" b="1" dirty="0"/>
                  <a:t>Read-Only Inspection:</a:t>
                </a:r>
                <a:r>
                  <a:rPr lang="en-IN" sz="1800" dirty="0"/>
                  <a:t> </a:t>
                </a:r>
                <a:r>
                  <a:rPr lang="en-IN" sz="2000" dirty="0"/>
                  <a:t>Existing tools show </a:t>
                </a:r>
                <a:r>
                  <a:rPr lang="en-IN" sz="2000" i="1" dirty="0"/>
                  <a:t>where</a:t>
                </a:r>
                <a:r>
                  <a:rPr lang="en-IN" sz="2000" dirty="0"/>
                  <a:t> a failure happened but force developers to rerun the entire multi-step pipeline from scratch to test a fix.</a:t>
                </a:r>
              </a:p>
              <a:p>
                <a:r>
                  <a:rPr lang="en-IN" sz="1800" b="1" dirty="0"/>
                  <a:t>Manual Feedback Loops:</a:t>
                </a:r>
                <a:r>
                  <a:rPr lang="en-IN" sz="1800" dirty="0"/>
                  <a:t> </a:t>
                </a:r>
                <a:r>
                  <a:rPr lang="en-IN" sz="2000" dirty="0"/>
                  <a:t>Converting real-world production agent failures into test cases remains a manual, time-consuming effort.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8C586E4-63FE-04EF-752F-C21C9BA52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123358"/>
                <a:ext cx="10515599" cy="5447645"/>
              </a:xfrm>
              <a:prstGeom prst="rect">
                <a:avLst/>
              </a:prstGeom>
              <a:blipFill>
                <a:blip r:embed="rId2"/>
                <a:stretch>
                  <a:fillRect l="-75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Woxsen University - Wikipedia">
            <a:extLst>
              <a:ext uri="{FF2B5EF4-FFF2-40B4-BE49-F238E27FC236}">
                <a16:creationId xmlns:a16="http://schemas.microsoft.com/office/drawing/2014/main" id="{D0563C26-26E6-E017-4E5E-D9C4AEF18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44116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225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9BBB-2A1B-2831-6F48-D33D2F8D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B8F3-6EFD-E9E4-B115-9024555E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1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DEAC5EA8-0608-FC2E-BC64-C7AE3079FF6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31521" y="2374270"/>
                <a:ext cx="10847454" cy="32265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1. Build a 3-Phase Causal Tracing &amp; Isolation Engine</a:t>
                </a: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    Intercept LLM calls, tool interactions, and data flows to construct parent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child trace trees with </a:t>
                </a:r>
                <a:r>
                  <a:rPr lang="en-IN" sz="2000" dirty="0" err="1"/>
                  <a:t>subsecond</a:t>
                </a:r>
                <a:r>
                  <a:rPr lang="en-IN" sz="2000" dirty="0"/>
                  <a:t> logging overhead.</a:t>
                </a:r>
              </a:p>
              <a:p>
                <a:pPr marL="0" indent="0">
                  <a:buNone/>
                </a:pPr>
                <a:r>
                  <a:rPr lang="en-IN" sz="2000" b="1" dirty="0"/>
                  <a:t>2. Enable Dual-Perspective (Dev / Non-Dev) Interactive Debugging</a:t>
                </a: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   Provide an interactive visual execution graph featuring both raw JSON spans and Plain-English step summaries for non-technical users.</a:t>
                </a:r>
              </a:p>
              <a:p>
                <a:pPr marL="0" indent="0">
                  <a:buNone/>
                </a:pPr>
                <a:r>
                  <a:rPr lang="en-IN" sz="2000" b="1" dirty="0"/>
                  <a:t>3. Implement Time-Travel Rewind &amp; Automated Regression Testing</a:t>
                </a: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    Allow users to edit prompt/data states mid-trace and rerun execution from the point of failure, automatically saving failed chains as regression test cases.</a:t>
                </a:r>
              </a:p>
            </p:txBody>
          </p:sp>
        </mc:Choice>
        <mc:Fallback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DEAC5EA8-0608-FC2E-BC64-C7AE3079F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31521" y="2374270"/>
                <a:ext cx="10847454" cy="3226524"/>
              </a:xfrm>
              <a:prstGeom prst="rect">
                <a:avLst/>
              </a:prstGeom>
              <a:blipFill>
                <a:blip r:embed="rId2"/>
                <a:stretch>
                  <a:fillRect l="-562" t="-1321" b="-28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Woxsen University - Wikipedia">
            <a:extLst>
              <a:ext uri="{FF2B5EF4-FFF2-40B4-BE49-F238E27FC236}">
                <a16:creationId xmlns:a16="http://schemas.microsoft.com/office/drawing/2014/main" id="{84494320-2374-6543-7A23-5D9C7BFF9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35300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25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6D4B-1DEF-5012-1702-238398D4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074" name="Picture 2" descr="Woxsen University - Wikipedia">
            <a:extLst>
              <a:ext uri="{FF2B5EF4-FFF2-40B4-BE49-F238E27FC236}">
                <a16:creationId xmlns:a16="http://schemas.microsoft.com/office/drawing/2014/main" id="{10A5DC6B-A8F6-1219-AD4F-753646EA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0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A1C2E-BBAA-5008-4ECC-92871FF6A2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3420920"/>
              </p:ext>
            </p:extLst>
          </p:nvPr>
        </p:nvGraphicFramePr>
        <p:xfrm>
          <a:off x="958467" y="1690688"/>
          <a:ext cx="10395334" cy="405693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634965">
                  <a:extLst>
                    <a:ext uri="{9D8B030D-6E8A-4147-A177-3AD203B41FA5}">
                      <a16:colId xmlns:a16="http://schemas.microsoft.com/office/drawing/2014/main" val="94363158"/>
                    </a:ext>
                  </a:extLst>
                </a:gridCol>
                <a:gridCol w="2600509">
                  <a:extLst>
                    <a:ext uri="{9D8B030D-6E8A-4147-A177-3AD203B41FA5}">
                      <a16:colId xmlns:a16="http://schemas.microsoft.com/office/drawing/2014/main" val="2357121476"/>
                    </a:ext>
                  </a:extLst>
                </a:gridCol>
                <a:gridCol w="2604619">
                  <a:extLst>
                    <a:ext uri="{9D8B030D-6E8A-4147-A177-3AD203B41FA5}">
                      <a16:colId xmlns:a16="http://schemas.microsoft.com/office/drawing/2014/main" val="1039265086"/>
                    </a:ext>
                  </a:extLst>
                </a:gridCol>
                <a:gridCol w="2555241">
                  <a:extLst>
                    <a:ext uri="{9D8B030D-6E8A-4147-A177-3AD203B41FA5}">
                      <a16:colId xmlns:a16="http://schemas.microsoft.com/office/drawing/2014/main" val="1611639035"/>
                    </a:ext>
                  </a:extLst>
                </a:gridCol>
              </a:tblGrid>
              <a:tr h="4630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Author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Methodology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Identified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We Address It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435016"/>
                  </a:ext>
                </a:extLst>
              </a:tr>
              <a:tr h="13693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dirty="0" err="1"/>
                        <a:t>LangSmith</a:t>
                      </a:r>
                      <a:r>
                        <a:rPr lang="en-IN" sz="1600" dirty="0"/>
                        <a:t> (</a:t>
                      </a:r>
                      <a:r>
                        <a:rPr lang="en-IN" sz="1600" dirty="0" err="1"/>
                        <a:t>LangChain</a:t>
                      </a:r>
                      <a:r>
                        <a:rPr lang="en-IN" sz="1600" dirty="0"/>
                        <a:t>, 2024)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Step execution spans &amp; evaluation datasets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Complex JSON UI; non-developers struggle to diagnose root causes 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We provide dual-mode views with plain-English failure translations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964604"/>
                  </a:ext>
                </a:extLst>
              </a:tr>
              <a:tr h="11122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dirty="0" err="1"/>
                        <a:t>Langfuse</a:t>
                      </a:r>
                      <a:r>
                        <a:rPr lang="en-IN" sz="1600" dirty="0"/>
                        <a:t> (Open Source, 2024)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Open-Telemetry based LLM tracing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 Vulnerability: Detectors placed inside the prompt can be bypassed by logic.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We implement "Time-Travel" state editing &amp; point-of-failure reruns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862309"/>
                  </a:ext>
                </a:extLst>
              </a:tr>
              <a:tr h="11122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dirty="0" err="1"/>
                        <a:t>Arize</a:t>
                      </a:r>
                      <a:r>
                        <a:rPr lang="en-IN" sz="1800" b="1" dirty="0"/>
                        <a:t> Phoenix</a:t>
                      </a:r>
                      <a:r>
                        <a:rPr lang="en-IN" sz="1800" dirty="0"/>
                        <a:t> (2024) 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Embedding-based hallucination detection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Read-only execution logs; requires full pipeline re-execution 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/>
                        <a:t>Auto-Evaluator converts failed trace branches directly into unit tests 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510" marR="60510" marT="30255" marB="30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4770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935A-95E5-C2C6-6464-410E7567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37" y="567158"/>
            <a:ext cx="10867663" cy="64519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Woxsen University - Wikipedia">
            <a:extLst>
              <a:ext uri="{FF2B5EF4-FFF2-40B4-BE49-F238E27FC236}">
                <a16:creationId xmlns:a16="http://schemas.microsoft.com/office/drawing/2014/main" id="{14BE3DA3-DBE0-2A4C-5092-A12F2D123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280988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0389F2-EC93-2540-F909-BC1B8CEDA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37" y="1504708"/>
            <a:ext cx="11493530" cy="46530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 1. Capture &amp; Isolation Layer (Phase 1)</a:t>
            </a:r>
          </a:p>
          <a:p>
            <a:r>
              <a:rPr lang="en-IN" sz="2000" dirty="0"/>
              <a:t>  Intercepts all LLM inputs/outputs, tool executions, and API parameters.</a:t>
            </a:r>
          </a:p>
          <a:p>
            <a:r>
              <a:rPr lang="en-IN" sz="2000" dirty="0"/>
              <a:t>  Formats events using </a:t>
            </a:r>
            <a:r>
              <a:rPr lang="en-IN" sz="2000" dirty="0" err="1"/>
              <a:t>OpenTelemetry</a:t>
            </a:r>
            <a:r>
              <a:rPr lang="en-IN" sz="2000" dirty="0"/>
              <a:t>-compliant hierarchical schemas.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2. Hybrid Evaluation &amp; Scoring Engine (Phase 2)</a:t>
            </a:r>
          </a:p>
          <a:p>
            <a:r>
              <a:rPr lang="en-IN" sz="2000" b="1" dirty="0"/>
              <a:t> Phase 1 (Tool Verification):</a:t>
            </a:r>
            <a:r>
              <a:rPr lang="en-IN" sz="2000" dirty="0"/>
              <a:t> Validates API payloads, schema types, and response status codes.</a:t>
            </a:r>
          </a:p>
          <a:p>
            <a:r>
              <a:rPr lang="en-IN" sz="2000" b="1" dirty="0"/>
              <a:t> Phase 2 (Semantic Consistency):</a:t>
            </a:r>
            <a:r>
              <a:rPr lang="en-IN" sz="2000" dirty="0"/>
              <a:t> Uses vector embeddings to detect logic drift or hallucinations between       parent and child steps.</a:t>
            </a:r>
          </a:p>
          <a:p>
            <a:r>
              <a:rPr lang="en-IN" sz="2000" b="1" dirty="0"/>
              <a:t> Phase 3 (Confidence Scoring):</a:t>
            </a:r>
            <a:r>
              <a:rPr lang="en-IN" sz="2000" dirty="0"/>
              <a:t> Computes a composite risk score for each node (Pass, Warning, Critical Failure).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3. Time-Travel &amp; Regression Layer (Phase 3)</a:t>
            </a:r>
          </a:p>
          <a:p>
            <a:r>
              <a:rPr lang="en-IN" sz="2000" dirty="0"/>
              <a:t>Isolates bad state nodes and allows state mutation directly within the visual interface.</a:t>
            </a:r>
          </a:p>
          <a:p>
            <a:r>
              <a:rPr lang="en-IN" sz="2000" dirty="0"/>
              <a:t>Automatically exports confirmed failures to the system’s test suite to prevent recurring errors.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24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8C06-A848-DCEA-58D5-29D88946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D0F9695D-5308-A1E8-EAA9-BBCF2C2D134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2055814"/>
                <a:ext cx="10515600" cy="4349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>
                  <a:buNone/>
                </a:pP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 Architecture:</a:t>
                </a:r>
              </a:p>
              <a:p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b="1" dirty="0"/>
                  <a:t>Trace Middleware (</a:t>
                </a:r>
                <a:r>
                  <a:rPr lang="en-IN" sz="2400" b="1" dirty="0" err="1"/>
                  <a:t>FastAPI</a:t>
                </a:r>
                <a:r>
                  <a:rPr lang="en-IN" sz="2400" b="1" dirty="0"/>
                  <a:t>):</a:t>
                </a:r>
                <a:r>
                  <a:rPr lang="en-IN" sz="2400" dirty="0"/>
                  <a:t> Ingests trace events asynchronously from the host AI agent.</a:t>
                </a:r>
              </a:p>
              <a:p>
                <a:r>
                  <a:rPr lang="en-IN" sz="2400" b="1" dirty="0"/>
                  <a:t>Graph Storage (PostgreSQL + </a:t>
                </a:r>
                <a:r>
                  <a:rPr lang="en-IN" sz="2400" b="1" dirty="0" err="1"/>
                  <a:t>OpenTelemetry</a:t>
                </a:r>
                <a:r>
                  <a:rPr lang="en-IN" sz="2400" b="1" dirty="0"/>
                  <a:t> Schema):</a:t>
                </a:r>
                <a:r>
                  <a:rPr lang="en-IN" sz="2400" dirty="0"/>
                  <a:t> Persists parent-child relationships and state payloads.</a:t>
                </a:r>
              </a:p>
              <a:p>
                <a:r>
                  <a:rPr lang="en-IN" sz="2400" b="1" dirty="0"/>
                  <a:t>Visual Graph Interface (React + React Flow):</a:t>
                </a:r>
                <a:r>
                  <a:rPr lang="en-IN" sz="2400" dirty="0"/>
                  <a:t> Renders dynamic execution trees with color-coded node statuses and draggable views.</a:t>
                </a:r>
              </a:p>
              <a:p>
                <a:r>
                  <a:rPr lang="en-IN" sz="2400" b="1" dirty="0"/>
                  <a:t>Auto-Evaluator Module:</a:t>
                </a:r>
                <a:r>
                  <a:rPr lang="en-IN" sz="2400" dirty="0"/>
                  <a:t> </a:t>
                </a:r>
                <a:r>
                  <a:rPr lang="en-IN" sz="2400" dirty="0" err="1"/>
                  <a:t>Analyzes</a:t>
                </a:r>
                <a:r>
                  <a:rPr lang="en-IN" sz="2400" dirty="0"/>
                  <a:t> root-cause paths ("Step 3 bad fetch </a:t>
                </a:r>
                <a14:m>
                  <m:oMath xmlns:m="http://schemas.openxmlformats.org/officeDocument/2006/math">
                    <m:r>
                      <a:rPr lang="en-IN" sz="2400"/>
                      <m:t>→</m:t>
                    </m:r>
                  </m:oMath>
                </a14:m>
                <a:r>
                  <a:rPr lang="en-IN" sz="2400" dirty="0"/>
                  <a:t>Step 5 hallucination") and generates test assertions.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D0F9695D-5308-A1E8-EAA9-BBCF2C2D1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055814"/>
                <a:ext cx="10515600" cy="4349290"/>
              </a:xfrm>
              <a:prstGeom prst="rect">
                <a:avLst/>
              </a:prstGeom>
              <a:blipFill>
                <a:blip r:embed="rId2"/>
                <a:stretch>
                  <a:fillRect l="-928" t="-9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9" name="Picture 3" descr="Woxsen University - Wikipedia">
            <a:extLst>
              <a:ext uri="{FF2B5EF4-FFF2-40B4-BE49-F238E27FC236}">
                <a16:creationId xmlns:a16="http://schemas.microsoft.com/office/drawing/2014/main" id="{D7D37779-7EE0-351D-4278-D44265EDA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0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07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B698-7E45-3B6F-0BD4-71B61E48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9D666-96D0-624C-0085-C37DEC2ED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Core Backend Framework:</a:t>
            </a:r>
            <a:r>
              <a:rPr lang="en-IN" dirty="0"/>
              <a:t> Python &amp; </a:t>
            </a:r>
            <a:r>
              <a:rPr lang="en-IN" dirty="0" err="1"/>
              <a:t>FastAPI</a:t>
            </a:r>
            <a:r>
              <a:rPr lang="en-IN" dirty="0"/>
              <a:t> (asynchronous, high-throughput trace ingestion).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Tracing Standards &amp; DB:</a:t>
            </a:r>
            <a:r>
              <a:rPr lang="en-IN" dirty="0"/>
              <a:t> </a:t>
            </a:r>
            <a:r>
              <a:rPr lang="en-IN" dirty="0" err="1"/>
              <a:t>OpenTelemetry</a:t>
            </a:r>
            <a:r>
              <a:rPr lang="en-IN" dirty="0"/>
              <a:t> specification with PostgreSQL / </a:t>
            </a:r>
            <a:r>
              <a:rPr lang="en-IN" dirty="0" err="1"/>
              <a:t>ClickHouse</a:t>
            </a:r>
            <a:r>
              <a:rPr lang="en-IN" dirty="0"/>
              <a:t> for low-latency tree storage.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Frontend Visualization:</a:t>
            </a:r>
            <a:r>
              <a:rPr lang="en-IN" dirty="0"/>
              <a:t> React.js with React Flow (@xyflow/react) for interactive node graphs.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AI &amp; Evaluation Engine:</a:t>
            </a:r>
            <a:endParaRPr lang="en-IN" dirty="0"/>
          </a:p>
          <a:p>
            <a:r>
              <a:rPr lang="en-IN" b="1" dirty="0"/>
              <a:t> Embeddings:</a:t>
            </a:r>
            <a:r>
              <a:rPr lang="en-IN" dirty="0"/>
              <a:t> all-MiniLM-L6-v2 for step-by-step semantic drift analysis. </a:t>
            </a:r>
          </a:p>
          <a:p>
            <a:r>
              <a:rPr lang="en-IN" b="1" dirty="0"/>
              <a:t> Judge LLM:</a:t>
            </a:r>
            <a:r>
              <a:rPr lang="en-IN" dirty="0"/>
              <a:t> Lightweight LLM API for producing Plain-English failure  explanations.</a:t>
            </a:r>
          </a:p>
          <a:p>
            <a:endParaRPr lang="en-IN" dirty="0"/>
          </a:p>
        </p:txBody>
      </p:sp>
      <p:pic>
        <p:nvPicPr>
          <p:cNvPr id="8194" name="Picture 2" descr="Woxsen University - Wikipedia">
            <a:extLst>
              <a:ext uri="{FF2B5EF4-FFF2-40B4-BE49-F238E27FC236}">
                <a16:creationId xmlns:a16="http://schemas.microsoft.com/office/drawing/2014/main" id="{010F344D-2F29-CE55-B7AB-E8F7B00BF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0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91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8681-C0D7-863E-D6E0-C77204FB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26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B1FD39-1357-4245-F17E-253B0E301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9533"/>
            <a:ext cx="10515600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1. Rapid Root-Cause Diagnostics</a:t>
            </a:r>
          </a:p>
          <a:p>
            <a:r>
              <a:rPr lang="en-IN" sz="2000" dirty="0"/>
              <a:t>Reduces debugging time for multi-step agent workflows by pinpointing the exact step where bad context was introduced.</a:t>
            </a:r>
          </a:p>
          <a:p>
            <a:r>
              <a:rPr lang="en-IN" sz="2000" b="1" dirty="0"/>
              <a:t>2. Accessible Debugging for Non-Developers</a:t>
            </a:r>
          </a:p>
          <a:p>
            <a:r>
              <a:rPr lang="en-IN" sz="2000" dirty="0"/>
              <a:t>Empowers non-technical team members to audit, understand, and fix agent </a:t>
            </a:r>
            <a:r>
              <a:rPr lang="en-IN" sz="2000" dirty="0" err="1"/>
              <a:t>behavior</a:t>
            </a:r>
            <a:r>
              <a:rPr lang="en-IN" sz="2000" dirty="0"/>
              <a:t> without reading raw logs.</a:t>
            </a:r>
          </a:p>
          <a:p>
            <a:r>
              <a:rPr lang="en-IN" sz="2000" b="1" dirty="0"/>
              <a:t>3. Self-Improving Agent Reliability</a:t>
            </a:r>
          </a:p>
          <a:p>
            <a:r>
              <a:rPr lang="en-IN" sz="2000" dirty="0"/>
              <a:t>Automatically transforms edge-case failures into automated regression tests, systematically reducing failure rates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3" name="Picture 3" descr="Woxsen University - Wikipedia">
            <a:extLst>
              <a:ext uri="{FF2B5EF4-FFF2-40B4-BE49-F238E27FC236}">
                <a16:creationId xmlns:a16="http://schemas.microsoft.com/office/drawing/2014/main" id="{0BA85D1F-D245-EA5A-1A3C-3CB25E542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8756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99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B41F-C5B5-5F38-C138-B8B2C460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C02097-AB0F-4C85-B034-A94204425E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1006"/>
            <a:ext cx="10783530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 err="1"/>
              <a:t>AlSayyad</a:t>
            </a:r>
            <a:r>
              <a:rPr lang="en-IN" sz="2000" b="1" dirty="0"/>
              <a:t>, A., Deshpande, R., &amp; Zhang, Y. (2026).</a:t>
            </a:r>
            <a:r>
              <a:rPr lang="en-IN" sz="2000" dirty="0"/>
              <a:t> </a:t>
            </a:r>
            <a:r>
              <a:rPr lang="en-IN" sz="2000" i="1" dirty="0" err="1"/>
              <a:t>AgentTrace</a:t>
            </a:r>
            <a:r>
              <a:rPr lang="en-IN" sz="2000" i="1" dirty="0"/>
              <a:t>: Operational, Cognitive, and Contextual Observability for Multi-Agent Workflows.</a:t>
            </a:r>
            <a:r>
              <a:rPr lang="en-IN" sz="2000" dirty="0"/>
              <a:t> </a:t>
            </a:r>
            <a:r>
              <a:rPr lang="en-IN" sz="2000" dirty="0" err="1"/>
              <a:t>arXiv</a:t>
            </a:r>
            <a:r>
              <a:rPr lang="en-IN" sz="2000" dirty="0"/>
              <a:t> preprint arXiv:2602.10133.</a:t>
            </a:r>
          </a:p>
          <a:p>
            <a:r>
              <a:rPr lang="en-IN" sz="2000" b="1" dirty="0"/>
              <a:t>Zhang, H., Chen, X., &amp; Liu, M. (2026).</a:t>
            </a:r>
            <a:r>
              <a:rPr lang="en-IN" sz="2000" dirty="0"/>
              <a:t> </a:t>
            </a:r>
            <a:r>
              <a:rPr lang="en-IN" sz="2000" i="1" dirty="0" err="1"/>
              <a:t>AgentTrace</a:t>
            </a:r>
            <a:r>
              <a:rPr lang="en-IN" sz="2000" i="1" dirty="0"/>
              <a:t>: Causal Graph Tracing for Root Cause Analysis in Deployed Multi-Agent Systems.</a:t>
            </a:r>
            <a:r>
              <a:rPr lang="en-IN" sz="2000" dirty="0"/>
              <a:t> </a:t>
            </a:r>
            <a:r>
              <a:rPr lang="en-IN" sz="2000" dirty="0" err="1"/>
              <a:t>arXiv</a:t>
            </a:r>
            <a:r>
              <a:rPr lang="en-IN" sz="2000" dirty="0"/>
              <a:t> preprint arXiv:2603.14688.</a:t>
            </a:r>
          </a:p>
          <a:p>
            <a:r>
              <a:rPr lang="en-IN" sz="2000" b="1" dirty="0"/>
              <a:t>Deshpande, K., &amp; Subramanian, S. (2026).</a:t>
            </a:r>
            <a:r>
              <a:rPr lang="en-IN" sz="2000" dirty="0"/>
              <a:t> </a:t>
            </a:r>
            <a:r>
              <a:rPr lang="en-IN" sz="2000" i="1" dirty="0"/>
              <a:t>Causal Agent Replay: Counterfactual Attribution for LLM-Agent Failures.</a:t>
            </a:r>
            <a:r>
              <a:rPr lang="en-IN" sz="2000" dirty="0"/>
              <a:t> </a:t>
            </a:r>
            <a:r>
              <a:rPr lang="en-IN" sz="2000" dirty="0" err="1"/>
              <a:t>arXiv</a:t>
            </a:r>
            <a:r>
              <a:rPr lang="en-IN" sz="2000" dirty="0"/>
              <a:t> preprint arXiv:2606.08275.</a:t>
            </a:r>
          </a:p>
          <a:p>
            <a:r>
              <a:rPr lang="en-IN" sz="2000" b="1" dirty="0"/>
              <a:t>Sequeira, R., &amp; Kumar, P. (2026).</a:t>
            </a:r>
            <a:r>
              <a:rPr lang="en-IN" sz="2000" dirty="0"/>
              <a:t> </a:t>
            </a:r>
            <a:r>
              <a:rPr lang="en-IN" sz="2000" i="1" dirty="0"/>
              <a:t>From Agent Traces to Trust: Evidence Tracing and Execution Provenance in LLM Agents.</a:t>
            </a:r>
            <a:r>
              <a:rPr lang="en-IN" sz="2000" dirty="0"/>
              <a:t> </a:t>
            </a:r>
            <a:r>
              <a:rPr lang="en-IN" sz="2000" dirty="0" err="1"/>
              <a:t>arXiv</a:t>
            </a:r>
            <a:r>
              <a:rPr lang="en-IN" sz="2000" dirty="0"/>
              <a:t> preprint arXiv:2606.04990.</a:t>
            </a:r>
          </a:p>
          <a:p>
            <a:r>
              <a:rPr lang="en-IN" sz="2000" b="1" dirty="0" err="1"/>
              <a:t>OpenTelemetry</a:t>
            </a:r>
            <a:r>
              <a:rPr lang="en-IN" sz="2000" b="1" dirty="0"/>
              <a:t> Project (2026).</a:t>
            </a:r>
            <a:r>
              <a:rPr lang="en-IN" sz="2000" dirty="0"/>
              <a:t> </a:t>
            </a:r>
            <a:r>
              <a:rPr lang="en-IN" sz="2000" i="1" dirty="0" err="1"/>
              <a:t>OpenTelemetry</a:t>
            </a:r>
            <a:r>
              <a:rPr lang="en-IN" sz="2000" i="1" dirty="0"/>
              <a:t> Semantic Conventions for Generative AI &amp; Agentic Systems.</a:t>
            </a:r>
            <a:r>
              <a:rPr lang="en-IN" sz="2000" dirty="0"/>
              <a:t> Cloud Native Computing Foundation (CNCF).</a:t>
            </a:r>
          </a:p>
          <a:p>
            <a:r>
              <a:rPr lang="en-IN" sz="2000" b="1" dirty="0" err="1"/>
              <a:t>LangChain</a:t>
            </a:r>
            <a:r>
              <a:rPr lang="en-IN" sz="2000" b="1" dirty="0"/>
              <a:t> &amp; </a:t>
            </a:r>
            <a:r>
              <a:rPr lang="en-IN" sz="2000" b="1" dirty="0" err="1"/>
              <a:t>LangSmith</a:t>
            </a:r>
            <a:r>
              <a:rPr lang="en-IN" sz="2000" b="1" dirty="0"/>
              <a:t> Team (2024–2026).</a:t>
            </a:r>
            <a:r>
              <a:rPr lang="en-IN" sz="2000" dirty="0"/>
              <a:t> </a:t>
            </a:r>
            <a:r>
              <a:rPr lang="en-IN" sz="2000" i="1" dirty="0"/>
              <a:t>Execution Spans and Automated Evaluation Datasets for Agent Pipelines.</a:t>
            </a:r>
            <a:r>
              <a:rPr lang="en-IN" sz="2000" dirty="0"/>
              <a:t> </a:t>
            </a:r>
            <a:r>
              <a:rPr lang="en-IN" sz="2000" dirty="0" err="1"/>
              <a:t>LangChain</a:t>
            </a:r>
            <a:r>
              <a:rPr lang="en-IN" sz="2000" dirty="0"/>
              <a:t> Whitepaper.</a:t>
            </a:r>
          </a:p>
          <a:p>
            <a:r>
              <a:rPr lang="en-IN" sz="2000" b="1" dirty="0" err="1"/>
              <a:t>Langfuse</a:t>
            </a:r>
            <a:r>
              <a:rPr lang="en-IN" sz="2000" b="1" dirty="0"/>
              <a:t> Open Source Community (2024–2026).</a:t>
            </a:r>
            <a:r>
              <a:rPr lang="en-IN" sz="2000" dirty="0"/>
              <a:t> </a:t>
            </a:r>
            <a:r>
              <a:rPr lang="en-IN" sz="2000" i="1" dirty="0"/>
              <a:t>Open-Source Telemetry Engine and Visual Trace Infrastructure for LLM Applications.</a:t>
            </a:r>
            <a:r>
              <a:rPr lang="en-IN" sz="2000" dirty="0"/>
              <a:t> GitHub Repository Documentation.</a:t>
            </a:r>
          </a:p>
        </p:txBody>
      </p:sp>
      <p:pic>
        <p:nvPicPr>
          <p:cNvPr id="5" name="Picture 3" descr="Woxsen University - Wikipedia">
            <a:extLst>
              <a:ext uri="{FF2B5EF4-FFF2-40B4-BE49-F238E27FC236}">
                <a16:creationId xmlns:a16="http://schemas.microsoft.com/office/drawing/2014/main" id="{6FE94E20-69B7-CEDA-D8BD-16109A1AD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8756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480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995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Fathom: Causal Tracing &amp; Visual Debugging Infrastructure for Multi-Step AI Agents </vt:lpstr>
      <vt:lpstr>Table Of Contents</vt:lpstr>
      <vt:lpstr>Problem Statement</vt:lpstr>
      <vt:lpstr>Objectives</vt:lpstr>
      <vt:lpstr>Literature Review</vt:lpstr>
      <vt:lpstr>Proposed Methodology </vt:lpstr>
      <vt:lpstr>Design &amp; Implementation</vt:lpstr>
      <vt:lpstr>Technology Stack </vt:lpstr>
      <vt:lpstr>Expected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SWASTIKA CHAKRABORTY</dc:creator>
  <cp:lastModifiedBy>prashlesh pratap singh</cp:lastModifiedBy>
  <cp:revision>5</cp:revision>
  <dcterms:created xsi:type="dcterms:W3CDTF">2025-12-07T16:32:42Z</dcterms:created>
  <dcterms:modified xsi:type="dcterms:W3CDTF">2026-07-28T13:54:07Z</dcterms:modified>
</cp:coreProperties>
</file>